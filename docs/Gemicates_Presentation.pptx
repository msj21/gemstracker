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389120"/>
            <a:ext cx="3200400" cy="3200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05840" cy="1005840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E293B"/>
                </a:solidFill>
              </a:rPr>
              <a:t>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508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GEMICATES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2331720"/>
            <a:ext cx="2194560" cy="34747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3317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Gems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834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4B5FD"/>
                </a:solidFill>
              </a:rPr>
              <a:t>The All-in-One Project &amp; Task Intelligence Platform for Modern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5661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Task Management  ·  Agile Sprints  ·  Time Tracking  ·  OKR Goals  · 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3080" y="4160520"/>
            <a:ext cx="1188720" cy="301752"/>
          </a:xfrm>
          <a:prstGeom prst="rect">
            <a:avLst/>
          </a:prstGeom>
          <a:solidFill>
            <a:srgbClr val="1E1056"/>
          </a:solidFill>
          <a:ln w="12700">
            <a:solidFill>
              <a:srgbClr val="6C3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416052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8AF8"/>
                </a:solidFill>
              </a:rPr>
              <a:t>v2.0  | 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90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327648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Product Feature Presentation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307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Product Overview &amp;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" y="1682496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45720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671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194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User Roles &amp; Access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" y="2569464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08376"/>
            <a:ext cx="4572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540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Core Feature Modules (12)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3456432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95344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4106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9684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Task Management Deep-Dive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" y="4343400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782312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28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855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Agile Sprint Planning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" y="5230368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669279"/>
            <a:ext cx="4572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7149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57424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Goals, Time Tracking &amp; Reports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" y="6117336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1234440"/>
            <a:ext cx="457200" cy="457200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1307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Admin Control Panel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13448" y="1682496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2121408"/>
            <a:ext cx="45720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1671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2194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Team &amp; Organization Tools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13448" y="2569464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46520" y="3008376"/>
            <a:ext cx="4572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0540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3448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Notifications &amp; Announcements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13448" y="3456432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46520" y="3895344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94106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3448" y="39684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Technical Architecture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3448" y="4343400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828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8" y="4855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Security &amp; Compliance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13448" y="5230368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46520" y="5669279"/>
            <a:ext cx="4572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7149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13448" y="57424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Summary &amp; Next Steps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13448" y="6117336"/>
            <a:ext cx="47548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01  Product Overview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C3FE8"/>
                </a:solidFill>
              </a:rPr>
              <a:t>What is Gemicates?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Gemicates (Gems Tracker) is an all-in-one project and task management platform built for modern teams — combining the simplicity of task tracking with the power of Agile sprint planning, OKR goal management, organizational hierarchy, and deep analytics.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3310128"/>
            <a:ext cx="411480" cy="411480"/>
          </a:xfrm>
          <a:prstGeom prst="ellipse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0098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192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FE8"/>
                </a:solidFill>
              </a:rPr>
              <a:t>Clarity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3192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Every member sees exactly what they need to do — today, this week, this sprint.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059935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050791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Audit logs, time tracking &amp; activity histories make work visible &amp; measurable.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809744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18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Agility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8188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Native sprint boards, backlog grooming &amp; kanban support Scrum out of the box.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5559551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50407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5686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OKR Goals connect daily task work to company-level objectives seamlessly.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325880"/>
            <a:ext cx="2697480" cy="155448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49047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C3FE8"/>
                </a:solidFill>
              </a:rPr>
              <a:t>150+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9842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REST API Endpoints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325880"/>
            <a:ext cx="2697480" cy="155448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49047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338CA"/>
                </a:solidFill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9842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Core Feature Modules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108960"/>
            <a:ext cx="2697480" cy="155448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2735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6D4"/>
                </a:solidFill>
              </a:rPr>
              <a:t>25+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673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Database Models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3108960"/>
            <a:ext cx="2697480" cy="155448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327355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7673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Frontend Pages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892040"/>
            <a:ext cx="2697480" cy="155448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056631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550407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User Role Tiers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4892040"/>
            <a:ext cx="2697480" cy="155448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5056631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F4444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5550407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Export Formats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02  User Roles &amp;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11880" cy="5349240"/>
          </a:xfrm>
          <a:prstGeom prst="rect">
            <a:avLst/>
          </a:prstGeom>
          <a:solidFill>
            <a:srgbClr val="EDE9FE"/>
          </a:solidFill>
          <a:ln w="19050">
            <a:solidFill>
              <a:srgbClr val="6C3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611880" cy="822960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🛡️  Administrator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86000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12848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Full system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98064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724912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Manage users, entities, projects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10128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236976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Configure site &amp; mail settings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822191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749039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View all reports &amp; audit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34256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261104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Create announcements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846320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773168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Manage org chart &amp; departments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358384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285232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Review leave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870448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797296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Spawn recurring tasks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234440"/>
            <a:ext cx="3611880" cy="5349240"/>
          </a:xfrm>
          <a:prstGeom prst="rect">
            <a:avLst/>
          </a:prstGeom>
          <a:solidFill>
            <a:srgbClr val="CCFBF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1234440"/>
            <a:ext cx="361188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32588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👔  Project 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28600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2212848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Create &amp; manage sprints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98064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2724912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Add / remove project members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310128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3236976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Assign tasks to team members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822191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3749039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Start &amp; complete sprints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334256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4261104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Edit &amp; delete sprint issues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484632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8" y="4773168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Create project milestones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5358384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5285232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View project-level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5870448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8" y="5797296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All member capabilities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1234440"/>
            <a:ext cx="3611880" cy="53492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75320" y="1234440"/>
            <a:ext cx="361188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132588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👤  Team Member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22860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67928" y="2212848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Create, edit &amp; delete own tasks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279806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67928" y="2724912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Log time &amp; use active timer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58200" y="331012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67928" y="3236976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Add comments &amp; subtasks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3822191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7928" y="3749039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View assigned projects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58200" y="433425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67928" y="4261104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Participate in sprint boards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58200" y="484632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28" y="4773168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Manage personal notes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58200" y="535838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7928" y="5285232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Save filter presets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58200" y="587044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67928" y="5797296"/>
            <a:ext cx="3136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Submit leave requests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650138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338CA"/>
                </a:solidFill>
              </a:rPr>
              <a:t>Roles are enforced at both API middleware and frontend rendering levels — users only see what they are authorised to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03  Core Feature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6C3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444751"/>
            <a:ext cx="502920" cy="502920"/>
          </a:xfrm>
          <a:prstGeom prst="ellipse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356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508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C3FE8"/>
                </a:solidFill>
              </a:rPr>
              <a:t>Task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2743200" cy="182880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2801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1444751"/>
            <a:ext cx="502920" cy="50292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356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1508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338CA"/>
                </a:solidFill>
              </a:rPr>
              <a:t>Project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651760"/>
            <a:ext cx="2743200" cy="1828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2801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444751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356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508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</a:rPr>
              <a:t>Sprint &amp; Agile Planning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651760"/>
            <a:ext cx="274320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2801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1444751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4356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⏱️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8" y="1508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</a:rPr>
              <a:t>Time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2651760"/>
            <a:ext cx="27432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1089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327355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3337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</a:rPr>
              <a:t>Goals &amp; OKRs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80560"/>
            <a:ext cx="274320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89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66160" y="3273552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8808" y="3337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444"/>
                </a:solidFill>
              </a:rPr>
              <a:t>Reporting &amp; Analytics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4480560"/>
            <a:ext cx="2743200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31089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6C3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92240" y="3273552"/>
            <a:ext cx="502920" cy="502920"/>
          </a:xfrm>
          <a:prstGeom prst="ellipse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88" y="3337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C3FE8"/>
                </a:solidFill>
              </a:rPr>
              <a:t>Team &amp; Organization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4480560"/>
            <a:ext cx="2743200" cy="182880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31089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18320" y="3273552"/>
            <a:ext cx="502920" cy="50292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0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968" y="3337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338CA"/>
                </a:solidFill>
              </a:rPr>
              <a:t>Notifications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4480560"/>
            <a:ext cx="2743200" cy="1828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9377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0080" y="5102352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93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2728" y="51663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</a:rPr>
              <a:t>Announcements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6309360"/>
            <a:ext cx="274320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29000" y="49377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566160" y="510235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0" y="5093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⚙️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78808" y="51663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</a:rPr>
              <a:t>Admin Control Panel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29000" y="6309360"/>
            <a:ext cx="27432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5080" y="49377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92240" y="510235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5093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04888" y="51663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</a:rPr>
              <a:t>Personal Productivity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6309360"/>
            <a:ext cx="274320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81160" y="4937760"/>
            <a:ext cx="2743200" cy="1554480"/>
          </a:xfrm>
          <a:prstGeom prst="rect">
            <a:avLst/>
          </a:prstGeom>
          <a:solidFill>
            <a:srgbClr val="F8F7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418320" y="5102352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50932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30968" y="51663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444"/>
                </a:solidFill>
              </a:rPr>
              <a:t>Security &amp; Audit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81160" y="6309360"/>
            <a:ext cx="2743200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04  Task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3FE8"/>
                </a:solidFill>
              </a:rPr>
              <a:t>Task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45720" cy="25603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Title: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1" y="1719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Required task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58568"/>
            <a:ext cx="45720" cy="25603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Issue Type: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2194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Story  ·  Bug  ·  Task  ·  Epic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34056"/>
            <a:ext cx="45720" cy="25603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700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26700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Configurable custom statuses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09544"/>
            <a:ext cx="45720" cy="25603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145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Priority: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31455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Low  ·  Medium  ·  High  ·  Critical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85032"/>
            <a:ext cx="45720" cy="25603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621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Hours Spent: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1" y="36210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0–24 hours manual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60520"/>
            <a:ext cx="45720" cy="25603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096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Due Date: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1" y="40965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Optional deadline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636008"/>
            <a:ext cx="45720" cy="25603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572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Assignee: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1" y="4572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Team member responsible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11496"/>
            <a:ext cx="45720" cy="25603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0474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Story Points: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1" y="5047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Agile effort estimation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586984"/>
            <a:ext cx="45720" cy="25603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5229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Recurrence: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55229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Daily or weekly repeat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12801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38CA"/>
                </a:solidFill>
              </a:rPr>
              <a:t>Operations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1792224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79008" y="17190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Create / Edit / Delete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084831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9008" y="2011679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Soft delete + Restore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2377440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79008" y="230428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Bulk Import (Excel .xlsx)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2670048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79008" y="2596896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Bulk Delete (multi-select)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2962656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79008" y="2889504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Export — Excel &amp; PDF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3255264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79008" y="318211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Cycle status on click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3547872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79008" y="3474720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Reassign to any member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3840480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79008" y="376732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Clone recurring tasks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41605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38CA"/>
                </a:solidFill>
              </a:rPr>
              <a:t>Views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4663440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79008" y="459028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📋 List — sortable, paginated table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4956048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79008" y="4882896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🗂  Kanban — drag-and-drop status columns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1280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Task Detail Features</a:t>
            </a:r>
          </a:p>
        </p:txBody>
      </p:sp>
      <p:sp>
        <p:nvSpPr>
          <p:cNvPr id="57" name="Oval 56"/>
          <p:cNvSpPr/>
          <p:nvPr/>
        </p:nvSpPr>
        <p:spPr>
          <a:xfrm>
            <a:off x="8778240" y="1719072"/>
            <a:ext cx="347472" cy="347472"/>
          </a:xfrm>
          <a:prstGeom prst="ellipse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0" y="17190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1755648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Threaded Comments</a:t>
            </a:r>
          </a:p>
        </p:txBody>
      </p:sp>
      <p:sp>
        <p:nvSpPr>
          <p:cNvPr id="60" name="Oval 59"/>
          <p:cNvSpPr/>
          <p:nvPr/>
        </p:nvSpPr>
        <p:spPr>
          <a:xfrm>
            <a:off x="8778240" y="2231136"/>
            <a:ext cx="347472" cy="347472"/>
          </a:xfrm>
          <a:prstGeom prst="ellipse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78240" y="2231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☑️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226771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Subtask Checklist</a:t>
            </a:r>
          </a:p>
        </p:txBody>
      </p:sp>
      <p:sp>
        <p:nvSpPr>
          <p:cNvPr id="63" name="Oval 62"/>
          <p:cNvSpPr/>
          <p:nvPr/>
        </p:nvSpPr>
        <p:spPr>
          <a:xfrm>
            <a:off x="8778240" y="2743200"/>
            <a:ext cx="347472" cy="347472"/>
          </a:xfrm>
          <a:prstGeom prst="ellipse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0" y="2743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⏱️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2779776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Active Timer</a:t>
            </a:r>
          </a:p>
        </p:txBody>
      </p:sp>
      <p:sp>
        <p:nvSpPr>
          <p:cNvPr id="66" name="Oval 65"/>
          <p:cNvSpPr/>
          <p:nvPr/>
        </p:nvSpPr>
        <p:spPr>
          <a:xfrm>
            <a:off x="8778240" y="3255264"/>
            <a:ext cx="347472" cy="347472"/>
          </a:xfrm>
          <a:prstGeom prst="ellipse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0" y="32552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3291840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Task Dependencies</a:t>
            </a:r>
          </a:p>
        </p:txBody>
      </p:sp>
      <p:sp>
        <p:nvSpPr>
          <p:cNvPr id="69" name="Oval 68"/>
          <p:cNvSpPr/>
          <p:nvPr/>
        </p:nvSpPr>
        <p:spPr>
          <a:xfrm>
            <a:off x="8778240" y="3767328"/>
            <a:ext cx="347472" cy="347472"/>
          </a:xfrm>
          <a:prstGeom prst="ellipse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0" y="37673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40" y="3803904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Watchers &amp; Alerts</a:t>
            </a:r>
          </a:p>
        </p:txBody>
      </p:sp>
      <p:sp>
        <p:nvSpPr>
          <p:cNvPr id="72" name="Oval 71"/>
          <p:cNvSpPr/>
          <p:nvPr/>
        </p:nvSpPr>
        <p:spPr>
          <a:xfrm>
            <a:off x="8778240" y="4279392"/>
            <a:ext cx="347472" cy="347472"/>
          </a:xfrm>
          <a:prstGeom prst="ellipse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78240" y="4279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5440" y="4315968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Activity Log</a:t>
            </a:r>
          </a:p>
        </p:txBody>
      </p:sp>
      <p:sp>
        <p:nvSpPr>
          <p:cNvPr id="75" name="Oval 74"/>
          <p:cNvSpPr/>
          <p:nvPr/>
        </p:nvSpPr>
        <p:spPr>
          <a:xfrm>
            <a:off x="8778240" y="4791456"/>
            <a:ext cx="347472" cy="347472"/>
          </a:xfrm>
          <a:prstGeom prst="ellipse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0" y="47914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🏷️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35440" y="482803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Labels &amp; Tags</a:t>
            </a:r>
          </a:p>
        </p:txBody>
      </p:sp>
      <p:sp>
        <p:nvSpPr>
          <p:cNvPr id="78" name="Oval 77"/>
          <p:cNvSpPr/>
          <p:nvPr/>
        </p:nvSpPr>
        <p:spPr>
          <a:xfrm>
            <a:off x="8778240" y="5303520"/>
            <a:ext cx="347472" cy="347472"/>
          </a:xfrm>
          <a:prstGeom prst="ellipse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78240" y="53035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📎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35440" y="5340096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Link Types (blocks, depends)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650138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338CA"/>
                </a:solidFill>
              </a:rPr>
              <a:t>Filters:  Project  ·  Status  ·  Priority  ·  Date Range  ·  Free-text Search  ·  Saved Presets  ·  Quick: Today / This Week / This 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05  Agile Sprint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Sprint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19072"/>
            <a:ext cx="1920240" cy="5029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1801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79" y="1719072"/>
            <a:ext cx="19202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1719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801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1719072"/>
            <a:ext cx="192024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719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Kanban 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52928"/>
            <a:ext cx="2011680" cy="38404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52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To 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10128"/>
            <a:ext cx="2011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55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User auth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68496"/>
            <a:ext cx="2011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1421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API gateway setup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9191" y="2852928"/>
            <a:ext cx="20116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9191" y="2852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9191" y="3310128"/>
            <a:ext cx="2011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3355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Sprint module 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9191" y="3968496"/>
            <a:ext cx="2011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0632" y="401421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DB migrations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55464" y="2852928"/>
            <a:ext cx="20116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5464" y="2852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55464" y="3310128"/>
            <a:ext cx="2011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46903" y="3355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Login page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5464" y="3968496"/>
            <a:ext cx="2011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46903" y="401421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JWT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1261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Sprint 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179222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4848" y="1719072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⚡  Drag-and-drop between status columns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219456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2121408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🎯  Configurable status columns (custom statuses)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259689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4848" y="2523744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📌  Sprint goal statement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299923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2926080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📊  Story point total vs. done progress bar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40156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3328415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🗂  Backlog for unspinted issues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380390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84848" y="3730752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👤  Assignee picker on issue create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420624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84848" y="4133087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✏️  Edit &amp; delete issues (managers only)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460857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4535424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🔢  Issue type breakdown (Story / Bug / Task / Epic)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501091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84848" y="4937760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🚀  Start sprint &amp; Complete sprint actions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541324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84848" y="5340096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📋  Add issues from backlog to any sprint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581558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84848" y="5742432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</a:rPr>
              <a:t>🔄  Optimistic UI — instant card movement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06  Goals · Time Tracking ·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3520440" cy="539496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🎯  Goals &amp; OKRs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470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Create objectives with owner &amp; due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042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Attach multiple Key Results per goal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3464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7614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Track Current vs. Target values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2186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Custom unit (%, users, revenue...)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49039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675887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Auto-calculated progress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20624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133087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Goal progress = avg of KR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66344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5902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Status: Active / Completed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2064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0474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Expand goal to edit KRs inline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261872"/>
            <a:ext cx="3520440" cy="539496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⏱️  Time Tracking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92024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18470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Manual hours per task (0–24)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37744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23042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One active timer per 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83464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27614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Start / Stop with one click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29184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2186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Auto-records seconds elapsed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749039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3675887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Time entry history in task detail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420624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4133087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Persists across navigation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66344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45902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Weekly summary: this vs. last week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512064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8848" y="5047488"/>
            <a:ext cx="3044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Hours-by-project breakdown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9560" y="1261872"/>
            <a:ext cx="3794760" cy="539496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📊  Reports &amp;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18470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Admin Reports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2249424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2167" y="2176272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All-tasks report (any user)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2651760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2167" y="2578608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User activity heatmap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3054096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2167" y="29809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Tasks per project chart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3456432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02167" y="33832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Hours by project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3858768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2167" y="3785615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Deadline alerts dashboard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4261104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02167" y="4187952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CSV export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8188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User Reports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92440" y="5221224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02167" y="5148072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Personal task summary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92440" y="5623560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02167" y="5550408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Status breakdown counts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92440" y="6025896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02167" y="5952744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Hours by project (own)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2440" y="6428232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02167" y="635508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Weekly task comparison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92440" y="6830568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02167" y="6757416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Activity streak counter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07  Admin Control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3657600" cy="2423160"/>
          </a:xfrm>
          <a:prstGeom prst="rect">
            <a:avLst/>
          </a:prstGeom>
          <a:solidFill>
            <a:srgbClr val="F8F7FF"/>
          </a:solidFill>
          <a:ln w="15240">
            <a:solidFill>
              <a:srgbClr val="6C3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3657600" cy="53035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5331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👥  User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75104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0195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Create users with invite 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58568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Edit name, email, role, avatar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88336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61518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Soft delete &amp; restore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44952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71800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Assign to projects &amp; entities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01568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2841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Toggle active / inactive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261872"/>
            <a:ext cx="3657600" cy="2423160"/>
          </a:xfrm>
          <a:prstGeom prst="rect">
            <a:avLst/>
          </a:prstGeom>
          <a:solidFill>
            <a:srgbClr val="F8F7F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261872"/>
            <a:ext cx="3657600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135331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🏢  Entity &amp; Project Mgmt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1975104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190195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Create / edit / delete entities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33172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2258568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Create projects under entities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2688336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261518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Set project status &amp; dates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3044952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2971800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Soft delete with restore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3401568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8" y="332841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View project task stats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1261872"/>
            <a:ext cx="3657600" cy="2423160"/>
          </a:xfrm>
          <a:prstGeom prst="rect">
            <a:avLst/>
          </a:prstGeom>
          <a:solidFill>
            <a:srgbClr val="F8F7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20" y="1261872"/>
            <a:ext cx="365760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135331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⚙️  Site Settings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197510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190195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Set site name &amp; upload logo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233172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2258568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Configure custom task statuses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268833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261518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Statuses reflect in Kanban &amp; forms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4495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22208" y="2971800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Remove logo option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340156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22208" y="332841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Public settings API for SPA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913631"/>
            <a:ext cx="3657600" cy="2423160"/>
          </a:xfrm>
          <a:prstGeom prst="rect">
            <a:avLst/>
          </a:prstGeom>
          <a:solidFill>
            <a:srgbClr val="F8F7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3913631"/>
            <a:ext cx="3657600" cy="5303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" y="4005071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📧  Mail Settings (SMTP)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626864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455371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SMTP host, port, auth config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983479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4910327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Sender name &amp; from address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5340096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526694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App URL setting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696712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5623559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Password masked in responses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6053327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5980175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Send test email to self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3913631"/>
            <a:ext cx="3657600" cy="2423160"/>
          </a:xfrm>
          <a:prstGeom prst="rect">
            <a:avLst/>
          </a:prstGeom>
          <a:solidFill>
            <a:srgbClr val="F8F7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89120" y="3913631"/>
            <a:ext cx="3657600" cy="5303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98848" y="4005071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📜  Audit Log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4626864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36008" y="455371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Entity-level change history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26280" y="4983479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36008" y="4910327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Action: create / update / delete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26280" y="5340096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36008" y="526694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Records: who, what, when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26280" y="5696712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36008" y="5623559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Old vs. new value diff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26280" y="6053327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36008" y="5980175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Filter by entity type &amp; ID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75320" y="3913631"/>
            <a:ext cx="3657600" cy="2423160"/>
          </a:xfrm>
          <a:prstGeom prst="rect">
            <a:avLst/>
          </a:prstGeom>
          <a:solidFill>
            <a:srgbClr val="F8F7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75320" y="3913631"/>
            <a:ext cx="3657600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85048" y="4005071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🌳  Org Chart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12480" y="4626864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22208" y="455371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Visual manager-subordinate tree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4983479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22208" y="4910327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Set manager per user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5340096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22208" y="526694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Recursive hierarchy display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12480" y="5696712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22208" y="5623559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Department management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12480" y="6053327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22208" y="5980175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Leave request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08 &amp; 09  Team, Organization &amp;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5486400" cy="539496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38CA"/>
                </a:solidFill>
              </a:rPr>
              <a:t>🏢  Team &amp; Organization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36576" cy="1207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92224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2140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Top-level business 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0545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Projects belong to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89503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Users assigned to entities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00984"/>
            <a:ext cx="36576" cy="1207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26440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Project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593591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Manager &amp; Member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97764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Managers create sprints &amp; assign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6168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Members view &amp; contribute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73168"/>
            <a:ext cx="36576" cy="1207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736592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Departments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06577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Hierarchical parent-child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4982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Department head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338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Nested org chart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245351"/>
            <a:ext cx="36576" cy="1207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6208775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</a:rPr>
              <a:t>Leave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537959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Types: Annual · Sick · Personal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922007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Request with date range &amp; 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7306055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·  Admin: Approve or Reject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1261872"/>
            <a:ext cx="5486400" cy="2651760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389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🔔  Notifications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1965960"/>
            <a:ext cx="164592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187451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Task assigned to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2112263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→ You have been assigned: [Task Title]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478024"/>
            <a:ext cx="164592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23865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Added to a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262432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→ You have been added to: [Project]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2990088"/>
            <a:ext cx="164592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28986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New sprint started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3136391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→ Sprint [Name] is now active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502152"/>
            <a:ext cx="164592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6832" y="34107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New announcement published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364845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→ New announcement: [Title]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4096512"/>
            <a:ext cx="5486400" cy="2578608"/>
          </a:xfrm>
          <a:prstGeom prst="rect">
            <a:avLst/>
          </a:prstGeom>
          <a:solidFill>
            <a:srgbClr val="F8F7FF"/>
          </a:solidFill>
          <a:ln w="9525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4224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📢  Announcements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82512" y="475488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68172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Admins create announcements with title &amp; body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82512" y="517550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102352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All active users notified instantly on publish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82512" y="559612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5522976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Per-user read / unread tracking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82512" y="601675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943600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Announcements page with read status badge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82512" y="643737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6364224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Admins can delete announcements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82512" y="68580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678484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Bell icon shows unread count badge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82512" y="727862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7205472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Mark individual or all-read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10  Personal Productivity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6C3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399031"/>
            <a:ext cx="457200" cy="457200"/>
          </a:xfrm>
          <a:prstGeom prst="ellipse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444751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FE8"/>
                </a:solidFill>
              </a:rPr>
              <a:t>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Private, per-user notes with pin support for quick access.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23744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Title + rich body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9503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81635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Pin to 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55263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8211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Create / Edit / Delete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261872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6280" y="1399031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1444751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Filter Presets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9476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Save complex filter combinations and load them in one click.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523744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245059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Name and save any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889503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281635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Instant reload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3255263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318211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Delete when done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1261872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12480" y="1399031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1444751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Pinned Projects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9476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Pin your most-used projects for instant dashboard access.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252374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245059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Quick-pin / unpin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889503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281635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Progress bar per project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3255263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318211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Shown on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95344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0782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Activity Streak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5811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Consecutive days with at least one task logged — stay on track.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157216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08406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Visible on user 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522976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44982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Motivates daily logging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888736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81558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Auto-calculated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895344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26280" y="4032504"/>
            <a:ext cx="457200" cy="4572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⌨️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2352" y="40782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38CA"/>
                </a:solidFill>
              </a:rPr>
              <a:t>Keyboard Shortcuts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45811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Power-user speed without leaving the keyboard.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6280" y="5157216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36008" y="508406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T — New task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26280" y="5522976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36008" y="544982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Ctrl+N — New task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26280" y="5888736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36008" y="581558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More shortcuts planned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3895344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412480" y="403250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407822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Dashboard Calendar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5811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Mini calendar on the user dashboard for at-a-glance scheduling.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5157216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22208" y="508406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Today highlighted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0" y="5522976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2208" y="5449824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Task counts per day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0" y="5888736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22208" y="581558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Quick date navigation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11 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922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Frontend: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7190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React 18 + TypeScript, Vite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94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State / Cache: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762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TanStack Query v5, Zustand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066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334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UI: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633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Tailwind CSS v3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638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906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Forms: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0906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React Hook Form + Zod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210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547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Drag &amp; Drop: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5478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@dnd-kit/core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782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0050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Backend: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0050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PHP (Custom MVC Framework)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354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622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Database: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4622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PostgreSQL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9926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9194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Auth: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919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JWT — 24-hour tokens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4498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3766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Mail: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53766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SMTP (admin-configurable)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907024"/>
            <a:ext cx="457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833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File Storage: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8338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Local server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1261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Architecture 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1719072"/>
            <a:ext cx="6217920" cy="566928"/>
          </a:xfrm>
          <a:prstGeom prst="rect">
            <a:avLst/>
          </a:prstGeom>
          <a:solidFill>
            <a:srgbClr val="F8F7FF"/>
          </a:solidFill>
          <a:ln w="15240">
            <a:solidFill>
              <a:srgbClr val="6C3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0" y="1719072"/>
            <a:ext cx="164592" cy="566928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25312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C3FE8"/>
                </a:solidFill>
              </a:rPr>
              <a:t>🌐  Browser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181051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React SPA — 23 pages, 25 API clients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313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2651760"/>
            <a:ext cx="6217920" cy="566928"/>
          </a:xfrm>
          <a:prstGeom prst="rect">
            <a:avLst/>
          </a:prstGeom>
          <a:solidFill>
            <a:srgbClr val="F8F7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0" y="2651760"/>
            <a:ext cx="164592" cy="5669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25312" y="2743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338CA"/>
                </a:solidFill>
              </a:rPr>
              <a:t>🔀  REST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27432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PHP Router — 150+ endpoints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3584448"/>
            <a:ext cx="6217920" cy="566928"/>
          </a:xfrm>
          <a:prstGeom prst="rect">
            <a:avLst/>
          </a:prstGeom>
          <a:solidFill>
            <a:srgbClr val="F8F7F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0" y="3584448"/>
            <a:ext cx="164592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25312" y="367588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</a:rPr>
              <a:t>🧠  Controllers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3675887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30 controllers — Business logic layer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1788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4517136"/>
            <a:ext cx="6217920" cy="566928"/>
          </a:xfrm>
          <a:prstGeom prst="rect">
            <a:avLst/>
          </a:prstGeom>
          <a:solidFill>
            <a:srgbClr val="F8F7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0" y="4517136"/>
            <a:ext cx="16459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25312" y="460857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</a:rPr>
              <a:t>📦  Models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4608575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25+ Core\Model classes (PDO/PostgreSQL)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11149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5449824"/>
            <a:ext cx="6217920" cy="566928"/>
          </a:xfrm>
          <a:prstGeom prst="rect">
            <a:avLst/>
          </a:prstGeom>
          <a:solidFill>
            <a:srgbClr val="F8F7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0" y="5449824"/>
            <a:ext cx="16459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25312" y="55412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</a:rPr>
              <a:t>🗄️  Database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9640" y="554126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PostgreSQL — Soft deletes, Audit 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12  Security &amp;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6C3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3657600" cy="548640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53312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🔐  Authentication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1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20239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JWT tokens — 24-hour expiry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14015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4086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Bcrypt password hashing (cost 12)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39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761487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No plaintext credentials stored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55263"/>
            <a:ext cx="54864" cy="54864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8211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Token validated on every API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261872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261872"/>
            <a:ext cx="3657600" cy="5486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1353312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🛡️  Authorization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1993391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1920239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Role-based middleware on every route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414015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234086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Users access only own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834639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2761487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Admin-only routes protected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3255263"/>
            <a:ext cx="5486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318211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Manager actions scoped to project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1261872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1261872"/>
            <a:ext cx="365760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1353312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💾  Data Protection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993391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1920239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Soft deletes — all records restorable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2414015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234086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Entity-level audit 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834639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2761487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File uploads: MIME + 2MB limit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3255263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318211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No permanent deletions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95344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3895344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3986783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🔍  Input Validation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626864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455371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Server-side sanitization (PHP)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047488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97433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PDO prepared statements (SQL injection)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468112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394959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Zod schema validation (frontend)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888736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81558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Context-aware output encoding (XSS)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895344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9120" y="3895344"/>
            <a:ext cx="36576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98848" y="3986783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📬  Mail Security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26280" y="462686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36008" y="455371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SMTP credentials in .env file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6280" y="504748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36008" y="497433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Password masked in API responses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26280" y="5468112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36008" y="5394959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Test email before go-live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26280" y="588873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36008" y="581558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Admin-only mail settings access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3895344"/>
            <a:ext cx="3657600" cy="2423160"/>
          </a:xfrm>
          <a:prstGeom prst="rect">
            <a:avLst/>
          </a:prstGeom>
          <a:solidFill>
            <a:srgbClr val="F8F7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75320" y="3895344"/>
            <a:ext cx="365760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85048" y="3986783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 Audit &amp; Compliance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4626864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22208" y="4553712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Full audit trail per entity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5047488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22208" y="4974336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Who, what, when recorded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0" y="5468112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2208" y="5394959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Old vs. new value diff stored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0" y="5888736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22208" y="581558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Filterable by type &amp; entity 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13  Feature Matrix by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261872"/>
            <a:ext cx="1828800" cy="438912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26187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261872"/>
            <a:ext cx="18288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26187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0" y="1261872"/>
            <a:ext cx="182880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126187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6187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83080"/>
            <a:ext cx="11384280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338CA"/>
                </a:solidFill>
              </a:rPr>
              <a:t>─── TASKS ───────────────────────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7830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7830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7830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002536"/>
            <a:ext cx="11384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00253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Create / Edit / Delete own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0025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0025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0025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21991"/>
            <a:ext cx="11384280" cy="219456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221991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Bulk import (Excel)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221991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221991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221991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441448"/>
            <a:ext cx="11384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44144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Export tasks (Excel / PDF)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4414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4414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44144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60904"/>
            <a:ext cx="11384280" cy="219456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6090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Assign tasks to others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266090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66090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66090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880360"/>
            <a:ext cx="11384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88036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Edit or delete ANY task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288036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88036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88036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099815"/>
            <a:ext cx="11384280" cy="219456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099815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Spawn recurring tasks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09981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309981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309981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319272"/>
            <a:ext cx="11384280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31927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338CA"/>
                </a:solidFill>
              </a:rPr>
              <a:t>─── SPRINTS ─────────────────────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33192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33192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3192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3538728"/>
            <a:ext cx="11384280" cy="219456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53872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Create / edit / delete sprints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35387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35387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35387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3758184"/>
            <a:ext cx="11384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375818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Start &amp; complete sprints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375818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375818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375818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3977639"/>
            <a:ext cx="11384280" cy="219456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3977639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Edit &amp; delete sprint issues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0" y="397763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397763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397763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197096"/>
            <a:ext cx="11384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19709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View &amp; drag sprint board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0" y="41970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0" y="41970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41970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4416552"/>
            <a:ext cx="11384280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441655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338CA"/>
                </a:solidFill>
              </a:rPr>
              <a:t>─── ADMIN ───────────────────────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441655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0" y="441655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441655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4636008"/>
            <a:ext cx="11384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463600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Manage users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03520" y="46360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46360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46360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4855464"/>
            <a:ext cx="11384280" cy="219456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Site &amp; mail settings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03520" y="48554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48554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41280" y="48554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5074920"/>
            <a:ext cx="11384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507492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Create announcements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03520" y="50749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0" y="50749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0" y="50749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" y="5294376"/>
            <a:ext cx="11384280" cy="219456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" y="52943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View audit log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03520" y="52943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0" y="52943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41280" y="52943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1480" y="5513832"/>
            <a:ext cx="11384280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2920" y="551383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338CA"/>
                </a:solidFill>
              </a:rPr>
              <a:t>─── PERSONAL ────────────────────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03520" y="551383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72400" y="551383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41280" y="551383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411480" y="5733288"/>
            <a:ext cx="11384280" cy="219456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573328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Notes, Presets, Pinned Projects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03520" y="57332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772400" y="57332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41280" y="57332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5952744"/>
            <a:ext cx="11384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2920" y="595274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Submit leave requests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03520" y="59527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72400" y="59527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241280" y="59527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11480" y="6172200"/>
            <a:ext cx="11384280" cy="219456"/>
          </a:xfrm>
          <a:prstGeom prst="rect">
            <a:avLst/>
          </a:prstGeom>
          <a:solidFill>
            <a:srgbClr val="F8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02920" y="617220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OKR Goals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03520" y="61722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772400" y="61722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241280" y="61722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1480" y="6391656"/>
            <a:ext cx="11384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2920" y="639165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Admin-wide reports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03520" y="63916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0" y="63916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41280" y="63916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1828800"/>
            <a:ext cx="5486400" cy="5486400"/>
          </a:xfrm>
          <a:prstGeom prst="ellipse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8229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1E293B"/>
                </a:solidFill>
              </a:rPr>
              <a:t>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GEMICATES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6974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4B5FD"/>
                </a:solidFill>
              </a:rPr>
              <a:t>Gems Tracker  —  The Future of Team Productivity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337560"/>
            <a:ext cx="5788152" cy="36576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520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B6D4"/>
                </a:solidFill>
              </a:rPr>
              <a:t>150+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API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520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B6D4"/>
                </a:solidFill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520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B6D4"/>
                </a:solidFill>
              </a:rPr>
              <a:t>25+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Data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520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B6D4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Role Tiers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4663440"/>
            <a:ext cx="3959352" cy="566928"/>
          </a:xfrm>
          <a:prstGeom prst="rect">
            <a:avLst/>
          </a:prstGeom>
          <a:solidFill>
            <a:srgbClr val="6C3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4663440"/>
            <a:ext cx="3959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🚀  Ready to Get Started with Gemicates?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4406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Task Management  ·  Agile Sprints  ·  Time Tracking  ·  OKRs  ·  Analytics  ·  Team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90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327648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© 2026 Gemicates  |  Confidential Product Presentation  | 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